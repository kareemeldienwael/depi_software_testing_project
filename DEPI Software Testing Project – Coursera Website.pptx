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IBM Plex Sans Thai" panose="020B0604020202020204" charset="-34"/>
      <p:regular r:id="rId12"/>
    </p:embeddedFont>
    <p:embeddedFont>
      <p:font typeface="IBM Plex Sans Thai Bold" panose="020B0604020202020204" charset="-34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github.com/KareemEldienWael/DEPI_Software_Testing_Project/tree/main" TargetMode="External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8168" y="7214322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019559" y="814387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586" y="8131103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30532" y="1346922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6100860" y="1884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511066" y="2577221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235327" y="5367941"/>
            <a:ext cx="15817345" cy="129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2"/>
              </a:lnSpc>
            </a:pPr>
            <a:r>
              <a:rPr lang="en-US" sz="3765" spc="60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Comprehensive Manual, API, and Automated UI Testing Framework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1066" y="3837906"/>
            <a:ext cx="18242348" cy="1609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36"/>
              </a:lnSpc>
            </a:pPr>
            <a:r>
              <a:rPr lang="en-US" sz="9383" b="1" spc="-187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DEPI Software Testing Project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916345" y="6871112"/>
            <a:ext cx="8455311" cy="894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1"/>
              </a:lnSpc>
            </a:pPr>
            <a:r>
              <a:rPr lang="en-US" sz="5265" b="1" spc="842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 Coursera Website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8168" y="7214322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019559" y="814387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586" y="7985847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30532" y="1585912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11066" y="2577221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9795541" y="4525112"/>
            <a:ext cx="8038570" cy="4414966"/>
          </a:xfrm>
          <a:custGeom>
            <a:avLst/>
            <a:gdLst/>
            <a:ahLst/>
            <a:cxnLst/>
            <a:rect l="l" t="t" r="r" b="b"/>
            <a:pathLst>
              <a:path w="8038570" h="4414966">
                <a:moveTo>
                  <a:pt x="0" y="0"/>
                </a:moveTo>
                <a:lnTo>
                  <a:pt x="8038570" y="0"/>
                </a:lnTo>
                <a:lnTo>
                  <a:pt x="8038570" y="4414966"/>
                </a:lnTo>
                <a:lnTo>
                  <a:pt x="0" y="44149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546334" y="3790942"/>
            <a:ext cx="7515966" cy="339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3"/>
              </a:lnSpc>
            </a:pPr>
            <a:r>
              <a:rPr lang="en-US" sz="4873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Kareem Eldien Wael </a:t>
            </a:r>
          </a:p>
          <a:p>
            <a:pPr algn="l">
              <a:lnSpc>
                <a:spcPts val="6823"/>
              </a:lnSpc>
            </a:pPr>
            <a:r>
              <a:rPr lang="en-US" sz="4873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Lujain Sherif Hussein </a:t>
            </a:r>
          </a:p>
          <a:p>
            <a:pPr algn="l">
              <a:lnSpc>
                <a:spcPts val="6823"/>
              </a:lnSpc>
            </a:pPr>
            <a:r>
              <a:rPr lang="en-US" sz="4873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Merola Gerges Gadallah </a:t>
            </a:r>
          </a:p>
          <a:p>
            <a:pPr algn="l">
              <a:lnSpc>
                <a:spcPts val="6823"/>
              </a:lnSpc>
            </a:pPr>
            <a:r>
              <a:rPr lang="en-US" sz="4873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Ahmed Saqr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064033" y="1332682"/>
            <a:ext cx="10159934" cy="1144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59"/>
              </a:lnSpc>
            </a:pPr>
            <a:r>
              <a:rPr lang="en-US" sz="6685" b="1" spc="-133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Team Members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-1706385" y="7820048"/>
            <a:ext cx="10159934" cy="88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9"/>
              </a:lnSpc>
            </a:pPr>
            <a:r>
              <a:rPr lang="en-US" sz="5185" b="1" u="sng" spc="-103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  <a:hlinkClick r:id="rId11" tooltip="https://github.com/KareemEldienWael/DEPI_Software_Testing_Project/tree/main"/>
              </a:rPr>
              <a:t>Github link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8168" y="7214322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019559" y="814387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586" y="8131103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30532" y="1346922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11066" y="2577221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4831976" y="960339"/>
            <a:ext cx="8624047" cy="1392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9"/>
              </a:lnSpc>
            </a:pPr>
            <a:r>
              <a:rPr lang="en-US" sz="8185" b="1" spc="-163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Documentation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43451" y="3102661"/>
            <a:ext cx="9845394" cy="127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2"/>
              </a:lnSpc>
            </a:pPr>
            <a:r>
              <a:rPr lang="en-US" sz="3665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Project Requirements, Scope, Roles &amp; Description documents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3599155" y="3290349"/>
            <a:ext cx="979313" cy="979313"/>
            <a:chOff x="0" y="0"/>
            <a:chExt cx="1305751" cy="1305751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0"/>
              <a:ext cx="1305751" cy="1305751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282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149408" y="42362"/>
              <a:ext cx="1006936" cy="111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11"/>
                </a:lnSpc>
              </a:pPr>
              <a:r>
                <a:rPr lang="en-US" sz="5008" b="1" spc="-100">
                  <a:solidFill>
                    <a:srgbClr val="FFFFFF"/>
                  </a:solidFill>
                  <a:latin typeface="IBM Plex Sans Thai Bold"/>
                  <a:ea typeface="IBM Plex Sans Thai Bold"/>
                  <a:cs typeface="IBM Plex Sans Thai Bold"/>
                  <a:sym typeface="IBM Plex Sans Thai Bold"/>
                </a:rPr>
                <a:t>1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4843451" y="4466155"/>
            <a:ext cx="9845394" cy="127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2"/>
              </a:lnSpc>
            </a:pPr>
            <a:r>
              <a:rPr lang="en-US" sz="3665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Test Plan, Test Cases (manual + automation + API) files present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3599155" y="4653843"/>
            <a:ext cx="979313" cy="979313"/>
            <a:chOff x="0" y="0"/>
            <a:chExt cx="1305751" cy="1305751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305751" cy="1305751"/>
              <a:chOff x="0" y="0"/>
              <a:chExt cx="812800" cy="812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282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49408" y="42362"/>
              <a:ext cx="1006936" cy="111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11"/>
                </a:lnSpc>
              </a:pPr>
              <a:r>
                <a:rPr lang="en-US" sz="5008" b="1" spc="-100">
                  <a:solidFill>
                    <a:srgbClr val="FFFFFF"/>
                  </a:solidFill>
                  <a:latin typeface="IBM Plex Sans Thai Bold"/>
                  <a:ea typeface="IBM Plex Sans Thai Bold"/>
                  <a:cs typeface="IBM Plex Sans Thai Bold"/>
                  <a:sym typeface="IBM Plex Sans Thai Bold"/>
                </a:rPr>
                <a:t>2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02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3599155" y="6014157"/>
            <a:ext cx="979313" cy="979313"/>
            <a:chOff x="0" y="0"/>
            <a:chExt cx="1305751" cy="1305751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1305751" cy="1305751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28282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149408" y="42362"/>
              <a:ext cx="1006936" cy="11162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11"/>
                </a:lnSpc>
              </a:pPr>
              <a:r>
                <a:rPr lang="en-US" sz="5008" b="1" spc="-100">
                  <a:solidFill>
                    <a:srgbClr val="FFFFFF"/>
                  </a:solidFill>
                  <a:latin typeface="IBM Plex Sans Thai Bold"/>
                  <a:ea typeface="IBM Plex Sans Thai Bold"/>
                  <a:cs typeface="IBM Plex Sans Thai Bold"/>
                  <a:sym typeface="IBM Plex Sans Thai Bold"/>
                </a:rPr>
                <a:t>3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4843451" y="6150318"/>
            <a:ext cx="9845394" cy="63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2"/>
              </a:lnSpc>
            </a:pPr>
            <a:r>
              <a:rPr lang="en-US" sz="3665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Bug reports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84414" y="7261947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726882" y="309130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98616" y="8033472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68918" y="1200150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4169429" y="633413"/>
            <a:ext cx="9949142" cy="1699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78"/>
              </a:lnSpc>
            </a:pPr>
            <a:r>
              <a:rPr lang="en-US" sz="9984" b="1" spc="-199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Manual Testing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676589"/>
            <a:ext cx="11366178" cy="6581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Authentication: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login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Search: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keyword search and suggestions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Filters: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level / skills / language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Course page: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details, instructor, reviews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Enrollment flow: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Join / enroll navigation checks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UI/navigation: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header/footer, responsiveness checks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Homepage &amp; Static Pages: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homepage elements, About / Careers / Help static pages (added to manual suite)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Negative tests: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invalid login, empty inputs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Course Page: 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course details, instructors, reviews</a:t>
            </a:r>
          </a:p>
          <a:p>
            <a:pPr marL="672024" lvl="1" indent="-336012" algn="l">
              <a:lnSpc>
                <a:spcPts val="4357"/>
              </a:lnSpc>
              <a:buFont typeface="Arial"/>
              <a:buChar char="•"/>
            </a:pPr>
            <a:r>
              <a:rPr lang="en-US" sz="3112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User Profile Page:</a:t>
            </a:r>
            <a:r>
              <a:rPr lang="en-US" sz="3112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profile info, edit navigation, visibility checks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8168" y="7214322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019559" y="814387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586" y="8131103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30532" y="1346922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11066" y="2577221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0" y="2277724"/>
            <a:ext cx="18389510" cy="6662354"/>
          </a:xfrm>
          <a:custGeom>
            <a:avLst/>
            <a:gdLst/>
            <a:ahLst/>
            <a:cxnLst/>
            <a:rect l="l" t="t" r="r" b="b"/>
            <a:pathLst>
              <a:path w="18389510" h="6662354">
                <a:moveTo>
                  <a:pt x="0" y="0"/>
                </a:moveTo>
                <a:lnTo>
                  <a:pt x="18389510" y="0"/>
                </a:lnTo>
                <a:lnTo>
                  <a:pt x="18389510" y="6662354"/>
                </a:lnTo>
                <a:lnTo>
                  <a:pt x="0" y="66623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30" b="-224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84414" y="7261947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726882" y="309130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98616" y="8033472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68918" y="1200150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3231483" y="688063"/>
            <a:ext cx="11825034" cy="1617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2"/>
              </a:lnSpc>
            </a:pPr>
            <a:r>
              <a:rPr lang="en-US" sz="9430" b="1" spc="-188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Automation Testing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901715"/>
            <a:ext cx="14403839" cy="6292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Search automation: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enter term → validate results</a:t>
            </a:r>
          </a:p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Filters automation: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apply filter → validate list</a:t>
            </a:r>
          </a:p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Authentication checks: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login validation (valid/invalid)</a:t>
            </a:r>
          </a:p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Course navigation →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enrollment navigation validation</a:t>
            </a:r>
          </a:p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External-links automation: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footer and static links (About, Help, Enterprise, other external redirects) </a:t>
            </a:r>
          </a:p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Navigation flows: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home → course → back</a:t>
            </a:r>
          </a:p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Course Details Automation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→ navigate to course, validate course-info elements</a:t>
            </a:r>
          </a:p>
          <a:p>
            <a:pPr marL="701618" lvl="1" indent="-350809" algn="l">
              <a:lnSpc>
                <a:spcPts val="4549"/>
              </a:lnSpc>
              <a:buFont typeface="Arial"/>
              <a:buChar char="•"/>
            </a:pPr>
            <a:r>
              <a:rPr lang="en-US" sz="3249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User Profile Automation</a:t>
            </a:r>
            <a:r>
              <a:rPr lang="en-US" sz="3249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→ navigate to profile, validate profile elements</a:t>
            </a:r>
          </a:p>
          <a:p>
            <a:pPr algn="l">
              <a:lnSpc>
                <a:spcPts val="4549"/>
              </a:lnSpc>
            </a:pPr>
            <a:endParaRPr lang="en-US" sz="3249">
              <a:solidFill>
                <a:srgbClr val="282828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8168" y="7214322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019559" y="814387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586" y="8131103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30532" y="1346922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11066" y="2577221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693893" y="1194943"/>
            <a:ext cx="14900214" cy="7897113"/>
          </a:xfrm>
          <a:custGeom>
            <a:avLst/>
            <a:gdLst/>
            <a:ahLst/>
            <a:cxnLst/>
            <a:rect l="l" t="t" r="r" b="b"/>
            <a:pathLst>
              <a:path w="14900214" h="7897113">
                <a:moveTo>
                  <a:pt x="0" y="0"/>
                </a:moveTo>
                <a:lnTo>
                  <a:pt x="14900214" y="0"/>
                </a:lnTo>
                <a:lnTo>
                  <a:pt x="14900214" y="7897114"/>
                </a:lnTo>
                <a:lnTo>
                  <a:pt x="0" y="78971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84414" y="7261947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0726882" y="309130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98616" y="8033472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68918" y="1200150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3449973" y="1047983"/>
            <a:ext cx="13809327" cy="135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79"/>
              </a:lnSpc>
            </a:pPr>
            <a:r>
              <a:rPr lang="en-US" sz="7985" b="1" spc="-159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API testing (Postman)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268" y="3373864"/>
            <a:ext cx="16516398" cy="556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6530" lvl="1" indent="-488265" algn="l">
              <a:lnSpc>
                <a:spcPts val="6332"/>
              </a:lnSpc>
              <a:buFont typeface="Arial"/>
              <a:buChar char="•"/>
            </a:pPr>
            <a:r>
              <a:rPr lang="en-US" sz="4523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Course Search API:</a:t>
            </a:r>
            <a:r>
              <a:rPr lang="en-US" sz="4523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 requests + response validation</a:t>
            </a:r>
          </a:p>
          <a:p>
            <a:pPr marL="976530" lvl="1" indent="-488265" algn="l">
              <a:lnSpc>
                <a:spcPts val="6332"/>
              </a:lnSpc>
              <a:buFont typeface="Arial"/>
              <a:buChar char="•"/>
            </a:pPr>
            <a:r>
              <a:rPr lang="en-US" sz="4523" b="1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Course Listing API: </a:t>
            </a:r>
            <a:r>
              <a:rPr lang="en-US" sz="4523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response checks, status codes, response times</a:t>
            </a:r>
          </a:p>
          <a:p>
            <a:pPr marL="976530" lvl="1" indent="-488265" algn="l">
              <a:lnSpc>
                <a:spcPts val="6332"/>
              </a:lnSpc>
              <a:buFont typeface="Arial"/>
              <a:buChar char="•"/>
            </a:pPr>
            <a:r>
              <a:rPr lang="en-US" sz="4523">
                <a:solidFill>
                  <a:srgbClr val="282828"/>
                </a:solidFill>
                <a:latin typeface="IBM Plex Sans Thai"/>
                <a:ea typeface="IBM Plex Sans Thai"/>
                <a:cs typeface="IBM Plex Sans Thai"/>
                <a:sym typeface="IBM Plex Sans Thai"/>
              </a:rPr>
              <a:t>Postman collection &amp; test scripts available in repo (API test artifacts present)</a:t>
            </a:r>
          </a:p>
          <a:p>
            <a:pPr algn="l">
              <a:lnSpc>
                <a:spcPts val="6332"/>
              </a:lnSpc>
            </a:pPr>
            <a:endParaRPr lang="en-US" sz="4523">
              <a:solidFill>
                <a:srgbClr val="282828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  <a:p>
            <a:pPr algn="l">
              <a:lnSpc>
                <a:spcPts val="6332"/>
              </a:lnSpc>
            </a:pPr>
            <a:endParaRPr lang="en-US" sz="4523">
              <a:solidFill>
                <a:srgbClr val="282828"/>
              </a:solidFill>
              <a:latin typeface="IBM Plex Sans Thai"/>
              <a:ea typeface="IBM Plex Sans Thai"/>
              <a:cs typeface="IBM Plex Sans Thai"/>
              <a:sym typeface="IBM Plex Sans Thai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8168" y="7214322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019559" y="814387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586" y="8131103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30532" y="1346922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511066" y="2577221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721338" y="1200211"/>
            <a:ext cx="14845325" cy="7886579"/>
          </a:xfrm>
          <a:custGeom>
            <a:avLst/>
            <a:gdLst/>
            <a:ahLst/>
            <a:cxnLst/>
            <a:rect l="l" t="t" r="r" b="b"/>
            <a:pathLst>
              <a:path w="14845325" h="7886579">
                <a:moveTo>
                  <a:pt x="0" y="0"/>
                </a:moveTo>
                <a:lnTo>
                  <a:pt x="14845324" y="0"/>
                </a:lnTo>
                <a:lnTo>
                  <a:pt x="14845324" y="7886578"/>
                </a:lnTo>
                <a:lnTo>
                  <a:pt x="0" y="7886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16684489" y="448758"/>
            <a:ext cx="1149622" cy="101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2"/>
              </a:lnSpc>
            </a:pPr>
            <a:r>
              <a:rPr lang="en-US" sz="5994" b="1" spc="-119">
                <a:solidFill>
                  <a:srgbClr val="545454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29950" y="9528897"/>
            <a:ext cx="14100464" cy="2314575"/>
            <a:chOff x="0" y="0"/>
            <a:chExt cx="3713702" cy="6096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438168" y="7214322"/>
            <a:ext cx="14100464" cy="2314575"/>
            <a:chOff x="0" y="0"/>
            <a:chExt cx="3713702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019559" y="814387"/>
            <a:ext cx="14100464" cy="2314575"/>
            <a:chOff x="0" y="0"/>
            <a:chExt cx="3713702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99AE1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7611341" y="-1500188"/>
            <a:ext cx="14100464" cy="2314575"/>
            <a:chOff x="0" y="0"/>
            <a:chExt cx="3713702" cy="609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13702" cy="609600"/>
            </a:xfrm>
            <a:custGeom>
              <a:avLst/>
              <a:gdLst/>
              <a:ahLst/>
              <a:cxnLst/>
              <a:rect l="l" t="t" r="r" b="b"/>
              <a:pathLst>
                <a:path w="3713702" h="609600">
                  <a:moveTo>
                    <a:pt x="203200" y="0"/>
                  </a:moveTo>
                  <a:lnTo>
                    <a:pt x="3713702" y="0"/>
                  </a:lnTo>
                  <a:lnTo>
                    <a:pt x="351050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5C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351050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12586" y="7985847"/>
            <a:ext cx="1543050" cy="771525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830532" y="1585912"/>
            <a:ext cx="1543050" cy="771525"/>
            <a:chOff x="0" y="0"/>
            <a:chExt cx="812800" cy="406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1B0E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 rot="-5400000">
            <a:off x="16100860" y="1884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5400000">
            <a:off x="1550696" y="8418082"/>
            <a:ext cx="636444" cy="1680435"/>
          </a:xfrm>
          <a:custGeom>
            <a:avLst/>
            <a:gdLst/>
            <a:ahLst/>
            <a:cxnLst/>
            <a:rect l="l" t="t" r="r" b="b"/>
            <a:pathLst>
              <a:path w="636444" h="1680435">
                <a:moveTo>
                  <a:pt x="0" y="0"/>
                </a:moveTo>
                <a:lnTo>
                  <a:pt x="636444" y="0"/>
                </a:lnTo>
                <a:lnTo>
                  <a:pt x="636444" y="1680436"/>
                </a:lnTo>
                <a:lnTo>
                  <a:pt x="0" y="1680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511066" y="2577221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6741666" y="6662580"/>
            <a:ext cx="1035268" cy="1103483"/>
          </a:xfrm>
          <a:custGeom>
            <a:avLst/>
            <a:gdLst/>
            <a:ahLst/>
            <a:cxnLst/>
            <a:rect l="l" t="t" r="r" b="b"/>
            <a:pathLst>
              <a:path w="1035268" h="1103483">
                <a:moveTo>
                  <a:pt x="0" y="0"/>
                </a:moveTo>
                <a:lnTo>
                  <a:pt x="1035268" y="0"/>
                </a:lnTo>
                <a:lnTo>
                  <a:pt x="1035268" y="1103483"/>
                </a:lnTo>
                <a:lnTo>
                  <a:pt x="0" y="11034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1720984" y="6730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6532596" y="8902628"/>
            <a:ext cx="673894" cy="673894"/>
          </a:xfrm>
          <a:custGeom>
            <a:avLst/>
            <a:gdLst/>
            <a:ahLst/>
            <a:cxnLst/>
            <a:rect l="l" t="t" r="r" b="b"/>
            <a:pathLst>
              <a:path w="673894" h="673894">
                <a:moveTo>
                  <a:pt x="0" y="0"/>
                </a:moveTo>
                <a:lnTo>
                  <a:pt x="673894" y="0"/>
                </a:lnTo>
                <a:lnTo>
                  <a:pt x="673894" y="673894"/>
                </a:lnTo>
                <a:lnTo>
                  <a:pt x="0" y="673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2208430" y="3435131"/>
            <a:ext cx="13871140" cy="2803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34"/>
              </a:lnSpc>
            </a:pPr>
            <a:r>
              <a:rPr lang="en-US" sz="16381" b="1" spc="-327">
                <a:solidFill>
                  <a:srgbClr val="282828"/>
                </a:solidFill>
                <a:latin typeface="IBM Plex Sans Thai Bold"/>
                <a:ea typeface="IBM Plex Sans Thai Bold"/>
                <a:cs typeface="IBM Plex Sans Thai Bold"/>
                <a:sym typeface="IBM Plex Sans Thai Bold"/>
              </a:rPr>
              <a:t>Thank You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286</Words>
  <Application>Microsoft Office PowerPoint</Application>
  <PresentationFormat>Custom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IBM Plex Sans Thai</vt:lpstr>
      <vt:lpstr>IBM Plex Sans Thai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DEPI Software Testing Project – Coursera Website</dc:title>
  <cp:lastModifiedBy>PINS3Y Official</cp:lastModifiedBy>
  <cp:revision>2</cp:revision>
  <dcterms:created xsi:type="dcterms:W3CDTF">2006-08-16T00:00:00Z</dcterms:created>
  <dcterms:modified xsi:type="dcterms:W3CDTF">2025-12-08T16:42:16Z</dcterms:modified>
  <dc:identifier>DAG62cLafEY</dc:identifier>
</cp:coreProperties>
</file>